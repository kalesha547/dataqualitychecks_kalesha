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164E63">
              <a:alpha val="40000"/>
            </a:srgbClr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5029200"/>
            <a:ext cx="4572000" cy="4572000"/>
          </a:xfrm>
          <a:prstGeom prst="ellipse">
            <a:avLst/>
          </a:prstGeom>
          <a:solidFill>
            <a:srgbClr val="4C1D95">
              <a:alpha val="30000"/>
            </a:srgbClr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286000"/>
            <a:ext cx="73152" cy="1645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· WORKFLOW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2743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1188720" y="3657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188720" y="4526280"/>
            <a:ext cx="457200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617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management for alumni registrations across Active, Future Transactions, and Former Employees tables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8720" y="58521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5961888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83080" y="5852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RULES · 3 DATA SOURCES · 1 DECISION FLOW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tables drive the decision logic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3383280" cy="4937760"/>
          </a:xfrm>
          <a:prstGeom prst="roundRect">
            <a:avLst>
              <a:gd name="adj" fmla="val 4324"/>
            </a:avLst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3291840" cy="4846320"/>
          </a:xfrm>
          <a:prstGeom prst="roundRect">
            <a:avLst>
              <a:gd name="adj" fmla="val 3889"/>
            </a:avLst>
          </a:prstGeom>
          <a:solidFill>
            <a:srgbClr val="1A234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874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189280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64E63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892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00200" y="2331720"/>
            <a:ext cx="1188720" cy="1188720"/>
          </a:xfrm>
          <a:prstGeom prst="ellipse">
            <a:avLst/>
          </a:prstGeom>
          <a:solidFill>
            <a:srgbClr val="164E63"/>
          </a:solidFill>
          <a:ln w="19050">
            <a:solidFill>
              <a:srgbClr val="06B6D4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2606040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3703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Employees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85800" y="41148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employed staff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14400" y="4526280"/>
            <a:ext cx="256032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469087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5840" y="46360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name &amp; ID match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77240" y="523951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51846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Rule 4 — Reject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77240" y="578815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57332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duplicate registration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89120" y="1691640"/>
            <a:ext cx="3383280" cy="4937760"/>
          </a:xfrm>
          <a:prstGeom prst="roundRect">
            <a:avLst>
              <a:gd name="adj" fmla="val 4324"/>
            </a:avLst>
          </a:prstGeom>
          <a:solidFill>
            <a:srgbClr val="8B5CF6">
              <a:alpha val="1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1737360"/>
            <a:ext cx="3291840" cy="4846320"/>
          </a:xfrm>
          <a:prstGeom prst="roundRect">
            <a:avLst>
              <a:gd name="adj" fmla="val 3889"/>
            </a:avLst>
          </a:prstGeom>
          <a:solidFill>
            <a:srgbClr val="1A23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36008" y="1874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629400" y="189280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4C1D95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29400" y="1892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486400" y="2331720"/>
            <a:ext cx="1188720" cy="1188720"/>
          </a:xfrm>
          <a:prstGeom prst="ellipse">
            <a:avLst/>
          </a:prstGeom>
          <a:solidFill>
            <a:srgbClr val="4C1D95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606040"/>
            <a:ext cx="640080" cy="6400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572000" y="3703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Transactions</a:t>
            </a:r>
            <a:endParaRPr lang="en-US" sz="1700" dirty="0"/>
          </a:p>
        </p:txBody>
      </p:sp>
      <p:sp>
        <p:nvSpPr>
          <p:cNvPr id="29" name="Text 25"/>
          <p:cNvSpPr/>
          <p:nvPr/>
        </p:nvSpPr>
        <p:spPr>
          <a:xfrm>
            <a:off x="4572000" y="41148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employment changes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800600" y="4526280"/>
            <a:ext cx="256032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663440" y="469087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892040" y="46360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check for ONHOLD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663440" y="523951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892040" y="51846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triggers R2 &amp; R3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663440" y="578815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892040" y="57332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Dual-match → Manual Queue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8275320" y="1691640"/>
            <a:ext cx="3383280" cy="4937760"/>
          </a:xfrm>
          <a:prstGeom prst="roundRect">
            <a:avLst>
              <a:gd name="adj" fmla="val 4324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321040" y="1737360"/>
            <a:ext cx="3291840" cy="4846320"/>
          </a:xfrm>
          <a:prstGeom prst="roundRect">
            <a:avLst>
              <a:gd name="adj" fmla="val 3889"/>
            </a:avLst>
          </a:prstGeom>
          <a:solidFill>
            <a:srgbClr val="1A23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522208" y="1874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10515600" y="189280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78350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10515600" y="1892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9372600" y="2331720"/>
            <a:ext cx="1188720" cy="1188720"/>
          </a:xfrm>
          <a:prstGeom prst="ellipse">
            <a:avLst/>
          </a:prstGeom>
          <a:solidFill>
            <a:srgbClr val="78350F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606040"/>
            <a:ext cx="640080" cy="64008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8458200" y="3703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Employees</a:t>
            </a:r>
            <a:endParaRPr lang="en-US" sz="1700" dirty="0"/>
          </a:p>
        </p:txBody>
      </p:sp>
      <p:sp>
        <p:nvSpPr>
          <p:cNvPr id="45" name="Text 40"/>
          <p:cNvSpPr/>
          <p:nvPr/>
        </p:nvSpPr>
        <p:spPr>
          <a:xfrm>
            <a:off x="8458200" y="41148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 staff records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8686800" y="4526280"/>
            <a:ext cx="256032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8549640" y="469087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8778240" y="46360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last working / term. date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8549640" y="523951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8778240" y="51846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date → Rule 3</a:t>
            </a:r>
            <a:endParaRPr lang="en-US" sz="1100" dirty="0"/>
          </a:p>
        </p:txBody>
      </p:sp>
      <p:sp>
        <p:nvSpPr>
          <p:cNvPr id="51" name="Shape 46"/>
          <p:cNvSpPr/>
          <p:nvPr/>
        </p:nvSpPr>
        <p:spPr>
          <a:xfrm>
            <a:off x="8549640" y="578815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8778240" y="57332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date → Rule 5 (Active)</a:t>
            </a:r>
            <a:endParaRPr lang="en-US" sz="1100" dirty="0"/>
          </a:p>
        </p:txBody>
      </p:sp>
      <p:sp>
        <p:nvSpPr>
          <p:cNvPr id="53" name="Text 48"/>
          <p:cNvSpPr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Continue to decision workflow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ONHOLD — Decision Path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657600"/>
            <a:ext cx="7955280" cy="0"/>
          </a:xfrm>
          <a:prstGeom prst="line">
            <a:avLst/>
          </a:prstGeom>
          <a:noFill/>
          <a:ln w="508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657600"/>
            <a:ext cx="7955280" cy="0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" y="3195828"/>
            <a:ext cx="1517904" cy="923544"/>
          </a:xfrm>
          <a:prstGeom prst="roundRect">
            <a:avLst>
              <a:gd name="adj" fmla="val 49505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45720" y="3268980"/>
            <a:ext cx="1371600" cy="777240"/>
          </a:xfrm>
          <a:prstGeom prst="roundRect">
            <a:avLst>
              <a:gd name="adj" fmla="val 52941"/>
            </a:avLst>
          </a:prstGeom>
          <a:solidFill>
            <a:srgbClr val="1A2340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" y="342900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352044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34564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" y="36758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28600" y="4155948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8600" y="41559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532888" y="3081528"/>
            <a:ext cx="1152144" cy="1152144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69464" y="3118104"/>
            <a:ext cx="1078992" cy="1078992"/>
          </a:xfrm>
          <a:prstGeom prst="ellipse">
            <a:avLst/>
          </a:prstGeom>
          <a:solidFill>
            <a:srgbClr val="8B5CF6">
              <a:alpha val="3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606040" y="3154680"/>
            <a:ext cx="1005840" cy="1005840"/>
          </a:xfrm>
          <a:prstGeom prst="ellipse">
            <a:avLst/>
          </a:prstGeom>
          <a:solidFill>
            <a:srgbClr val="1A2340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834640" y="338328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3493008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828800" y="26060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Inactive?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828800" y="28620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Transactions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2697480" y="4270248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697480" y="42702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5276088" y="3081528"/>
            <a:ext cx="1152144" cy="1152144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312664" y="3118104"/>
            <a:ext cx="1078992" cy="1078992"/>
          </a:xfrm>
          <a:prstGeom prst="ellipse">
            <a:avLst/>
          </a:prstGeom>
          <a:solidFill>
            <a:srgbClr val="8B5CF6">
              <a:alpha val="3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349240" y="3154680"/>
            <a:ext cx="1005840" cy="1005840"/>
          </a:xfrm>
          <a:prstGeom prst="ellipse">
            <a:avLst/>
          </a:prstGeom>
          <a:solidFill>
            <a:srgbClr val="1A2340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577840" y="338328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3493008"/>
            <a:ext cx="329184" cy="32918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572000" y="26060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Former Emp?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4572000" y="28620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FE table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5440680" y="4270248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440680" y="42702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8019288" y="3081528"/>
            <a:ext cx="1152144" cy="1152144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055864" y="3118104"/>
            <a:ext cx="1078992" cy="1078992"/>
          </a:xfrm>
          <a:prstGeom prst="ellipse">
            <a:avLst/>
          </a:prstGeom>
          <a:solidFill>
            <a:srgbClr val="8B5CF6">
              <a:alpha val="3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092440" y="3154680"/>
            <a:ext cx="1005840" cy="1005840"/>
          </a:xfrm>
          <a:prstGeom prst="ellipse">
            <a:avLst/>
          </a:prstGeom>
          <a:solidFill>
            <a:srgbClr val="1A2340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8321040" y="338328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68" y="3493008"/>
            <a:ext cx="329184" cy="32918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315200" y="26060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Term. Date Empty?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7315200" y="28620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working day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8183880" y="4270248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8183880" y="42702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434340" y="5715000"/>
            <a:ext cx="1965960" cy="1143000"/>
          </a:xfrm>
          <a:prstGeom prst="roundRect">
            <a:avLst>
              <a:gd name="adj" fmla="val 12800"/>
            </a:avLst>
          </a:prstGeom>
          <a:solidFill>
            <a:srgbClr val="F43F5E">
              <a:alpha val="15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480060" y="5760720"/>
            <a:ext cx="1874520" cy="1051560"/>
          </a:xfrm>
          <a:prstGeom prst="roundRect">
            <a:avLst>
              <a:gd name="adj" fmla="val 12174"/>
            </a:avLst>
          </a:prstGeom>
          <a:solidFill>
            <a:srgbClr val="1A2340"/>
          </a:solidFill>
          <a:ln w="15875">
            <a:solidFill>
              <a:srgbClr val="F43F5E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480060" y="5760720"/>
            <a:ext cx="187452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5" name="Shape 39"/>
          <p:cNvSpPr/>
          <p:nvPr/>
        </p:nvSpPr>
        <p:spPr>
          <a:xfrm>
            <a:off x="1851660" y="5925312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1851660" y="5925312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617220" y="5925312"/>
            <a:ext cx="420624" cy="42062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6007608"/>
            <a:ext cx="256032" cy="256032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617220" y="6400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300" dirty="0"/>
          </a:p>
        </p:txBody>
      </p:sp>
      <p:sp>
        <p:nvSpPr>
          <p:cNvPr id="50" name="Text 43"/>
          <p:cNvSpPr/>
          <p:nvPr/>
        </p:nvSpPr>
        <p:spPr>
          <a:xfrm>
            <a:off x="617220" y="662025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conflict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2400300" y="5715000"/>
            <a:ext cx="1965960" cy="1143000"/>
          </a:xfrm>
          <a:prstGeom prst="roundRect">
            <a:avLst>
              <a:gd name="adj" fmla="val 12800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2446020" y="5760720"/>
            <a:ext cx="1874520" cy="1051560"/>
          </a:xfrm>
          <a:prstGeom prst="roundRect">
            <a:avLst>
              <a:gd name="adj" fmla="val 12174"/>
            </a:avLst>
          </a:prstGeom>
          <a:solidFill>
            <a:srgbClr val="1A234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2446020" y="5760720"/>
            <a:ext cx="18745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4" name="Shape 47"/>
          <p:cNvSpPr/>
          <p:nvPr/>
        </p:nvSpPr>
        <p:spPr>
          <a:xfrm>
            <a:off x="3817620" y="5925312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3817620" y="5925312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900" dirty="0"/>
          </a:p>
        </p:txBody>
      </p:sp>
      <p:sp>
        <p:nvSpPr>
          <p:cNvPr id="56" name="Shape 49"/>
          <p:cNvSpPr/>
          <p:nvPr/>
        </p:nvSpPr>
        <p:spPr>
          <a:xfrm>
            <a:off x="2583180" y="5925312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5476" y="6007608"/>
            <a:ext cx="256032" cy="256032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2583180" y="6400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300" dirty="0"/>
          </a:p>
        </p:txBody>
      </p:sp>
      <p:sp>
        <p:nvSpPr>
          <p:cNvPr id="59" name="Text 51"/>
          <p:cNvSpPr/>
          <p:nvPr/>
        </p:nvSpPr>
        <p:spPr>
          <a:xfrm>
            <a:off x="2583180" y="662025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with date</a:t>
            </a:r>
            <a:endParaRPr lang="en-US" sz="900" dirty="0"/>
          </a:p>
        </p:txBody>
      </p:sp>
      <p:sp>
        <p:nvSpPr>
          <p:cNvPr id="60" name="Shape 52"/>
          <p:cNvSpPr/>
          <p:nvPr/>
        </p:nvSpPr>
        <p:spPr>
          <a:xfrm>
            <a:off x="4366260" y="5715000"/>
            <a:ext cx="1965960" cy="1143000"/>
          </a:xfrm>
          <a:prstGeom prst="roundRect">
            <a:avLst>
              <a:gd name="adj" fmla="val 12800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4411980" y="5760720"/>
            <a:ext cx="1874520" cy="1051560"/>
          </a:xfrm>
          <a:prstGeom prst="roundRect">
            <a:avLst>
              <a:gd name="adj" fmla="val 12174"/>
            </a:avLst>
          </a:prstGeom>
          <a:solidFill>
            <a:srgbClr val="1A2340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4411980" y="5760720"/>
            <a:ext cx="1874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3" name="Shape 55"/>
          <p:cNvSpPr/>
          <p:nvPr/>
        </p:nvSpPr>
        <p:spPr>
          <a:xfrm>
            <a:off x="5783580" y="5925312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56"/>
          <p:cNvSpPr/>
          <p:nvPr/>
        </p:nvSpPr>
        <p:spPr>
          <a:xfrm>
            <a:off x="5783580" y="5925312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00" dirty="0"/>
          </a:p>
        </p:txBody>
      </p:sp>
      <p:sp>
        <p:nvSpPr>
          <p:cNvPr id="65" name="Shape 57"/>
          <p:cNvSpPr/>
          <p:nvPr/>
        </p:nvSpPr>
        <p:spPr>
          <a:xfrm>
            <a:off x="4549140" y="5925312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1436" y="6007608"/>
            <a:ext cx="256032" cy="256032"/>
          </a:xfrm>
          <a:prstGeom prst="rect">
            <a:avLst/>
          </a:prstGeom>
        </p:spPr>
      </p:pic>
      <p:sp>
        <p:nvSpPr>
          <p:cNvPr id="67" name="Text 58"/>
          <p:cNvSpPr/>
          <p:nvPr/>
        </p:nvSpPr>
        <p:spPr>
          <a:xfrm>
            <a:off x="4549140" y="6400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ONHOLD A</a:t>
            </a:r>
            <a:endParaRPr lang="en-US" sz="1300" dirty="0"/>
          </a:p>
        </p:txBody>
      </p:sp>
      <p:sp>
        <p:nvSpPr>
          <p:cNvPr id="68" name="Text 59"/>
          <p:cNvSpPr/>
          <p:nvPr/>
        </p:nvSpPr>
        <p:spPr>
          <a:xfrm>
            <a:off x="4549140" y="662025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Template A</a:t>
            </a:r>
            <a:endParaRPr lang="en-US" sz="900" dirty="0"/>
          </a:p>
        </p:txBody>
      </p:sp>
      <p:sp>
        <p:nvSpPr>
          <p:cNvPr id="69" name="Shape 60"/>
          <p:cNvSpPr/>
          <p:nvPr/>
        </p:nvSpPr>
        <p:spPr>
          <a:xfrm>
            <a:off x="6332220" y="5715000"/>
            <a:ext cx="1965960" cy="1143000"/>
          </a:xfrm>
          <a:prstGeom prst="roundRect">
            <a:avLst>
              <a:gd name="adj" fmla="val 12800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Shape 61"/>
          <p:cNvSpPr/>
          <p:nvPr/>
        </p:nvSpPr>
        <p:spPr>
          <a:xfrm>
            <a:off x="6377940" y="5760720"/>
            <a:ext cx="1874520" cy="1051560"/>
          </a:xfrm>
          <a:prstGeom prst="roundRect">
            <a:avLst>
              <a:gd name="adj" fmla="val 12174"/>
            </a:avLst>
          </a:prstGeom>
          <a:solidFill>
            <a:srgbClr val="1A2340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71" name="Shape 62"/>
          <p:cNvSpPr/>
          <p:nvPr/>
        </p:nvSpPr>
        <p:spPr>
          <a:xfrm>
            <a:off x="6377940" y="5760720"/>
            <a:ext cx="1874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2" name="Shape 63"/>
          <p:cNvSpPr/>
          <p:nvPr/>
        </p:nvSpPr>
        <p:spPr>
          <a:xfrm>
            <a:off x="7749540" y="5925312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3" name="Text 64"/>
          <p:cNvSpPr/>
          <p:nvPr/>
        </p:nvSpPr>
        <p:spPr>
          <a:xfrm>
            <a:off x="7749540" y="5925312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900" dirty="0"/>
          </a:p>
        </p:txBody>
      </p:sp>
      <p:sp>
        <p:nvSpPr>
          <p:cNvPr id="74" name="Shape 65"/>
          <p:cNvSpPr/>
          <p:nvPr/>
        </p:nvSpPr>
        <p:spPr>
          <a:xfrm>
            <a:off x="6515100" y="5925312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7396" y="6007608"/>
            <a:ext cx="256032" cy="256032"/>
          </a:xfrm>
          <a:prstGeom prst="rect">
            <a:avLst/>
          </a:prstGeom>
        </p:spPr>
      </p:pic>
      <p:sp>
        <p:nvSpPr>
          <p:cNvPr id="76" name="Text 66"/>
          <p:cNvSpPr/>
          <p:nvPr/>
        </p:nvSpPr>
        <p:spPr>
          <a:xfrm>
            <a:off x="6515100" y="6400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ONHOLD B</a:t>
            </a:r>
            <a:endParaRPr lang="en-US" sz="1300" dirty="0"/>
          </a:p>
        </p:txBody>
      </p:sp>
      <p:sp>
        <p:nvSpPr>
          <p:cNvPr id="77" name="Text 67"/>
          <p:cNvSpPr/>
          <p:nvPr/>
        </p:nvSpPr>
        <p:spPr>
          <a:xfrm>
            <a:off x="6515100" y="662025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Template B</a:t>
            </a:r>
            <a:endParaRPr lang="en-US" sz="900" dirty="0"/>
          </a:p>
        </p:txBody>
      </p:sp>
      <p:sp>
        <p:nvSpPr>
          <p:cNvPr id="78" name="Shape 68"/>
          <p:cNvSpPr/>
          <p:nvPr/>
        </p:nvSpPr>
        <p:spPr>
          <a:xfrm>
            <a:off x="8298180" y="5715000"/>
            <a:ext cx="1965960" cy="1143000"/>
          </a:xfrm>
          <a:prstGeom prst="roundRect">
            <a:avLst>
              <a:gd name="adj" fmla="val 12800"/>
            </a:avLst>
          </a:prstGeom>
          <a:solidFill>
            <a:srgbClr val="F97316">
              <a:alpha val="1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9" name="Shape 69"/>
          <p:cNvSpPr/>
          <p:nvPr/>
        </p:nvSpPr>
        <p:spPr>
          <a:xfrm>
            <a:off x="8343900" y="5760720"/>
            <a:ext cx="1874520" cy="1051560"/>
          </a:xfrm>
          <a:prstGeom prst="roundRect">
            <a:avLst>
              <a:gd name="adj" fmla="val 12174"/>
            </a:avLst>
          </a:prstGeom>
          <a:solidFill>
            <a:srgbClr val="1A2340"/>
          </a:solidFill>
          <a:ln w="15875">
            <a:solidFill>
              <a:srgbClr val="F97316"/>
            </a:solidFill>
            <a:prstDash val="solid"/>
          </a:ln>
        </p:spPr>
      </p:sp>
      <p:sp>
        <p:nvSpPr>
          <p:cNvPr id="80" name="Shape 70"/>
          <p:cNvSpPr/>
          <p:nvPr/>
        </p:nvSpPr>
        <p:spPr>
          <a:xfrm>
            <a:off x="8343900" y="5760720"/>
            <a:ext cx="187452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1" name="Shape 71"/>
          <p:cNvSpPr/>
          <p:nvPr/>
        </p:nvSpPr>
        <p:spPr>
          <a:xfrm>
            <a:off x="9715500" y="5925312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2" name="Text 72"/>
          <p:cNvSpPr/>
          <p:nvPr/>
        </p:nvSpPr>
        <p:spPr>
          <a:xfrm>
            <a:off x="9715500" y="5925312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00" dirty="0"/>
          </a:p>
        </p:txBody>
      </p:sp>
      <p:sp>
        <p:nvSpPr>
          <p:cNvPr id="83" name="Shape 73"/>
          <p:cNvSpPr/>
          <p:nvPr/>
        </p:nvSpPr>
        <p:spPr>
          <a:xfrm>
            <a:off x="8481060" y="5925312"/>
            <a:ext cx="420624" cy="4206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8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3356" y="6007608"/>
            <a:ext cx="256032" cy="256032"/>
          </a:xfrm>
          <a:prstGeom prst="rect">
            <a:avLst/>
          </a:prstGeom>
        </p:spPr>
      </p:pic>
      <p:sp>
        <p:nvSpPr>
          <p:cNvPr id="85" name="Text 74"/>
          <p:cNvSpPr/>
          <p:nvPr/>
        </p:nvSpPr>
        <p:spPr>
          <a:xfrm>
            <a:off x="8481060" y="6400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300" dirty="0"/>
          </a:p>
        </p:txBody>
      </p:sp>
      <p:sp>
        <p:nvSpPr>
          <p:cNvPr id="86" name="Text 75"/>
          <p:cNvSpPr/>
          <p:nvPr/>
        </p:nvSpPr>
        <p:spPr>
          <a:xfrm>
            <a:off x="8481060" y="662025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900" dirty="0"/>
          </a:p>
        </p:txBody>
      </p:sp>
      <p:sp>
        <p:nvSpPr>
          <p:cNvPr id="87" name="Shape 76"/>
          <p:cNvSpPr/>
          <p:nvPr/>
        </p:nvSpPr>
        <p:spPr>
          <a:xfrm>
            <a:off x="10126980" y="5715000"/>
            <a:ext cx="1965960" cy="1143000"/>
          </a:xfrm>
          <a:prstGeom prst="roundRect">
            <a:avLst>
              <a:gd name="adj" fmla="val 12800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8" name="Shape 77"/>
          <p:cNvSpPr/>
          <p:nvPr/>
        </p:nvSpPr>
        <p:spPr>
          <a:xfrm>
            <a:off x="10172700" y="5760720"/>
            <a:ext cx="1874520" cy="1051560"/>
          </a:xfrm>
          <a:prstGeom prst="roundRect">
            <a:avLst>
              <a:gd name="adj" fmla="val 12174"/>
            </a:avLst>
          </a:prstGeom>
          <a:solidFill>
            <a:srgbClr val="1A234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89" name="Shape 78"/>
          <p:cNvSpPr/>
          <p:nvPr/>
        </p:nvSpPr>
        <p:spPr>
          <a:xfrm>
            <a:off x="10172700" y="5760720"/>
            <a:ext cx="18745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0" name="Shape 79"/>
          <p:cNvSpPr/>
          <p:nvPr/>
        </p:nvSpPr>
        <p:spPr>
          <a:xfrm>
            <a:off x="11544300" y="5925312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1" name="Text 80"/>
          <p:cNvSpPr/>
          <p:nvPr/>
        </p:nvSpPr>
        <p:spPr>
          <a:xfrm>
            <a:off x="11544300" y="5925312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900" dirty="0"/>
          </a:p>
        </p:txBody>
      </p:sp>
      <p:sp>
        <p:nvSpPr>
          <p:cNvPr id="92" name="Shape 81"/>
          <p:cNvSpPr/>
          <p:nvPr/>
        </p:nvSpPr>
        <p:spPr>
          <a:xfrm>
            <a:off x="10309860" y="5925312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9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92156" y="6007608"/>
            <a:ext cx="256032" cy="256032"/>
          </a:xfrm>
          <a:prstGeom prst="rect">
            <a:avLst/>
          </a:prstGeom>
        </p:spPr>
      </p:pic>
      <p:sp>
        <p:nvSpPr>
          <p:cNvPr id="94" name="Text 82"/>
          <p:cNvSpPr/>
          <p:nvPr/>
        </p:nvSpPr>
        <p:spPr>
          <a:xfrm>
            <a:off x="10309860" y="6400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300" dirty="0"/>
          </a:p>
        </p:txBody>
      </p:sp>
      <p:sp>
        <p:nvSpPr>
          <p:cNvPr id="95" name="Text 83"/>
          <p:cNvSpPr/>
          <p:nvPr/>
        </p:nvSpPr>
        <p:spPr>
          <a:xfrm>
            <a:off x="10309860" y="662025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NO path</a:t>
            </a:r>
            <a:endParaRPr lang="en-US" sz="900" dirty="0"/>
          </a:p>
        </p:txBody>
      </p:sp>
      <p:sp>
        <p:nvSpPr>
          <p:cNvPr id="96" name="Shape 84"/>
          <p:cNvSpPr/>
          <p:nvPr/>
        </p:nvSpPr>
        <p:spPr>
          <a:xfrm>
            <a:off x="6355080" y="3657600"/>
            <a:ext cx="91440" cy="9144"/>
          </a:xfrm>
          <a:prstGeom prst="line">
            <a:avLst/>
          </a:prstGeom>
          <a:noFill/>
          <a:ln w="22225">
            <a:solidFill>
              <a:srgbClr val="F59E0B"/>
            </a:solidFill>
            <a:prstDash val="solid"/>
          </a:ln>
        </p:spPr>
      </p:sp>
      <p:sp>
        <p:nvSpPr>
          <p:cNvPr id="97" name="Shape 85"/>
          <p:cNvSpPr/>
          <p:nvPr/>
        </p:nvSpPr>
        <p:spPr>
          <a:xfrm>
            <a:off x="6446520" y="3657600"/>
            <a:ext cx="9144" cy="1737360"/>
          </a:xfrm>
          <a:prstGeom prst="line">
            <a:avLst/>
          </a:prstGeom>
          <a:noFill/>
          <a:ln w="22225">
            <a:solidFill>
              <a:srgbClr val="F59E0B"/>
            </a:solidFill>
            <a:prstDash val="solid"/>
          </a:ln>
        </p:spPr>
      </p:sp>
      <p:sp>
        <p:nvSpPr>
          <p:cNvPr id="98" name="Shape 86"/>
          <p:cNvSpPr/>
          <p:nvPr/>
        </p:nvSpPr>
        <p:spPr>
          <a:xfrm>
            <a:off x="5349240" y="5394960"/>
            <a:ext cx="1097280" cy="9144"/>
          </a:xfrm>
          <a:prstGeom prst="line">
            <a:avLst/>
          </a:prstGeom>
          <a:noFill/>
          <a:ln w="22225">
            <a:solidFill>
              <a:srgbClr val="F59E0B"/>
            </a:solidFill>
            <a:prstDash val="solid"/>
          </a:ln>
        </p:spPr>
      </p:sp>
      <p:sp>
        <p:nvSpPr>
          <p:cNvPr id="99" name="Shape 87"/>
          <p:cNvSpPr/>
          <p:nvPr/>
        </p:nvSpPr>
        <p:spPr>
          <a:xfrm>
            <a:off x="5349240" y="5394960"/>
            <a:ext cx="9144" cy="365760"/>
          </a:xfrm>
          <a:prstGeom prst="line">
            <a:avLst/>
          </a:prstGeom>
          <a:noFill/>
          <a:ln w="22225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00" name="Shape 88"/>
          <p:cNvSpPr/>
          <p:nvPr/>
        </p:nvSpPr>
        <p:spPr>
          <a:xfrm>
            <a:off x="6519672" y="3538728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1" name="Text 89"/>
          <p:cNvSpPr/>
          <p:nvPr/>
        </p:nvSpPr>
        <p:spPr>
          <a:xfrm>
            <a:off x="6519672" y="35387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02" name="Shape 90"/>
          <p:cNvSpPr/>
          <p:nvPr/>
        </p:nvSpPr>
        <p:spPr>
          <a:xfrm>
            <a:off x="9098280" y="3657600"/>
            <a:ext cx="91440" cy="9144"/>
          </a:xfrm>
          <a:prstGeom prst="line">
            <a:avLst/>
          </a:prstGeom>
          <a:noFill/>
          <a:ln w="22225">
            <a:solidFill>
              <a:srgbClr val="F59E0B"/>
            </a:solidFill>
            <a:prstDash val="solid"/>
          </a:ln>
        </p:spPr>
      </p:sp>
      <p:sp>
        <p:nvSpPr>
          <p:cNvPr id="103" name="Shape 91"/>
          <p:cNvSpPr/>
          <p:nvPr/>
        </p:nvSpPr>
        <p:spPr>
          <a:xfrm>
            <a:off x="9189720" y="3657600"/>
            <a:ext cx="9144" cy="1737360"/>
          </a:xfrm>
          <a:prstGeom prst="line">
            <a:avLst/>
          </a:prstGeom>
          <a:noFill/>
          <a:ln w="22225">
            <a:solidFill>
              <a:srgbClr val="F59E0B"/>
            </a:solidFill>
            <a:prstDash val="solid"/>
          </a:ln>
        </p:spPr>
      </p:sp>
      <p:sp>
        <p:nvSpPr>
          <p:cNvPr id="104" name="Shape 92"/>
          <p:cNvSpPr/>
          <p:nvPr/>
        </p:nvSpPr>
        <p:spPr>
          <a:xfrm>
            <a:off x="7315200" y="5394960"/>
            <a:ext cx="1874520" cy="9144"/>
          </a:xfrm>
          <a:prstGeom prst="line">
            <a:avLst/>
          </a:prstGeom>
          <a:noFill/>
          <a:ln w="22225">
            <a:solidFill>
              <a:srgbClr val="F59E0B"/>
            </a:solidFill>
            <a:prstDash val="solid"/>
          </a:ln>
        </p:spPr>
      </p:sp>
      <p:sp>
        <p:nvSpPr>
          <p:cNvPr id="105" name="Shape 93"/>
          <p:cNvSpPr/>
          <p:nvPr/>
        </p:nvSpPr>
        <p:spPr>
          <a:xfrm>
            <a:off x="7315200" y="5394960"/>
            <a:ext cx="9144" cy="365760"/>
          </a:xfrm>
          <a:prstGeom prst="line">
            <a:avLst/>
          </a:prstGeom>
          <a:noFill/>
          <a:ln w="22225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06" name="Shape 94"/>
          <p:cNvSpPr/>
          <p:nvPr/>
        </p:nvSpPr>
        <p:spPr>
          <a:xfrm>
            <a:off x="9262872" y="3538728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7" name="Text 95"/>
          <p:cNvSpPr/>
          <p:nvPr/>
        </p:nvSpPr>
        <p:spPr>
          <a:xfrm>
            <a:off x="9262872" y="353872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850" dirty="0"/>
          </a:p>
        </p:txBody>
      </p:sp>
      <p:sp>
        <p:nvSpPr>
          <p:cNvPr id="108" name="Shape 96"/>
          <p:cNvSpPr/>
          <p:nvPr/>
        </p:nvSpPr>
        <p:spPr>
          <a:xfrm>
            <a:off x="9098280" y="3657600"/>
            <a:ext cx="22860" cy="9144"/>
          </a:xfrm>
          <a:prstGeom prst="line">
            <a:avLst/>
          </a:prstGeom>
          <a:noFill/>
          <a:ln w="22225">
            <a:solidFill>
              <a:srgbClr val="F97316"/>
            </a:solidFill>
            <a:prstDash val="solid"/>
          </a:ln>
        </p:spPr>
      </p:sp>
      <p:sp>
        <p:nvSpPr>
          <p:cNvPr id="109" name="Shape 97"/>
          <p:cNvSpPr/>
          <p:nvPr/>
        </p:nvSpPr>
        <p:spPr>
          <a:xfrm>
            <a:off x="9121140" y="3657600"/>
            <a:ext cx="9144" cy="1188720"/>
          </a:xfrm>
          <a:prstGeom prst="line">
            <a:avLst/>
          </a:prstGeom>
          <a:noFill/>
          <a:ln w="22225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10" name="Shape 98"/>
          <p:cNvSpPr/>
          <p:nvPr/>
        </p:nvSpPr>
        <p:spPr>
          <a:xfrm>
            <a:off x="9235440" y="3511296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1" name="Text 99"/>
          <p:cNvSpPr/>
          <p:nvPr/>
        </p:nvSpPr>
        <p:spPr>
          <a:xfrm>
            <a:off x="9235440" y="35112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EMPTY</a:t>
            </a:r>
            <a:endParaRPr lang="en-US" sz="800" dirty="0"/>
          </a:p>
        </p:txBody>
      </p:sp>
      <p:sp>
        <p:nvSpPr>
          <p:cNvPr id="112" name="Shape 100"/>
          <p:cNvSpPr/>
          <p:nvPr/>
        </p:nvSpPr>
        <p:spPr>
          <a:xfrm>
            <a:off x="8755380" y="4846320"/>
            <a:ext cx="731520" cy="731520"/>
          </a:xfrm>
          <a:prstGeom prst="ellipse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3" name="Shape 101"/>
          <p:cNvSpPr/>
          <p:nvPr/>
        </p:nvSpPr>
        <p:spPr>
          <a:xfrm>
            <a:off x="8828532" y="4919472"/>
            <a:ext cx="585216" cy="585216"/>
          </a:xfrm>
          <a:prstGeom prst="ellipse">
            <a:avLst/>
          </a:prstGeom>
          <a:solidFill>
            <a:srgbClr val="1A2340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14" name="Shape 102"/>
          <p:cNvSpPr/>
          <p:nvPr/>
        </p:nvSpPr>
        <p:spPr>
          <a:xfrm>
            <a:off x="8938260" y="5029200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1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2268" y="5093208"/>
            <a:ext cx="237744" cy="237744"/>
          </a:xfrm>
          <a:prstGeom prst="rect">
            <a:avLst/>
          </a:prstGeom>
        </p:spPr>
      </p:pic>
      <p:sp>
        <p:nvSpPr>
          <p:cNvPr id="116" name="Text 103"/>
          <p:cNvSpPr/>
          <p:nvPr/>
        </p:nvSpPr>
        <p:spPr>
          <a:xfrm>
            <a:off x="6926580" y="504748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tables match?</a:t>
            </a:r>
            <a:endParaRPr lang="en-US" sz="1000" dirty="0"/>
          </a:p>
        </p:txBody>
      </p:sp>
      <p:sp>
        <p:nvSpPr>
          <p:cNvPr id="117" name="Text 104"/>
          <p:cNvSpPr/>
          <p:nvPr/>
        </p:nvSpPr>
        <p:spPr>
          <a:xfrm>
            <a:off x="6926580" y="52578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+ Former</a:t>
            </a:r>
            <a:endParaRPr lang="en-US" sz="850" dirty="0"/>
          </a:p>
        </p:txBody>
      </p:sp>
      <p:sp>
        <p:nvSpPr>
          <p:cNvPr id="118" name="Shape 105"/>
          <p:cNvSpPr/>
          <p:nvPr/>
        </p:nvSpPr>
        <p:spPr>
          <a:xfrm>
            <a:off x="9121140" y="5577840"/>
            <a:ext cx="9144" cy="-32004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119" name="Shape 106"/>
          <p:cNvSpPr/>
          <p:nvPr/>
        </p:nvSpPr>
        <p:spPr>
          <a:xfrm>
            <a:off x="9121140" y="5257800"/>
            <a:ext cx="160020" cy="9144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120" name="Shape 107"/>
          <p:cNvSpPr/>
          <p:nvPr/>
        </p:nvSpPr>
        <p:spPr>
          <a:xfrm>
            <a:off x="9281160" y="5257800"/>
            <a:ext cx="9144" cy="50292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21" name="Shape 108"/>
          <p:cNvSpPr/>
          <p:nvPr/>
        </p:nvSpPr>
        <p:spPr>
          <a:xfrm>
            <a:off x="8526780" y="5669280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2" name="Text 109"/>
          <p:cNvSpPr/>
          <p:nvPr/>
        </p:nvSpPr>
        <p:spPr>
          <a:xfrm>
            <a:off x="8526780" y="56692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23" name="Shape 110"/>
          <p:cNvSpPr/>
          <p:nvPr/>
        </p:nvSpPr>
        <p:spPr>
          <a:xfrm>
            <a:off x="9486900" y="5212080"/>
            <a:ext cx="1623060" cy="914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24" name="Shape 111"/>
          <p:cNvSpPr/>
          <p:nvPr/>
        </p:nvSpPr>
        <p:spPr>
          <a:xfrm>
            <a:off x="11109960" y="5212080"/>
            <a:ext cx="9144" cy="54864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25" name="Shape 112"/>
          <p:cNvSpPr/>
          <p:nvPr/>
        </p:nvSpPr>
        <p:spPr>
          <a:xfrm>
            <a:off x="10332720" y="5093208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6" name="Text 113"/>
          <p:cNvSpPr/>
          <p:nvPr/>
        </p:nvSpPr>
        <p:spPr>
          <a:xfrm>
            <a:off x="10332720" y="509320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27" name="Shape 114"/>
          <p:cNvSpPr/>
          <p:nvPr/>
        </p:nvSpPr>
        <p:spPr>
          <a:xfrm>
            <a:off x="3108960" y="3154680"/>
            <a:ext cx="9144" cy="-73152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</a:ln>
        </p:spPr>
      </p:sp>
      <p:sp>
        <p:nvSpPr>
          <p:cNvPr id="128" name="Shape 115"/>
          <p:cNvSpPr/>
          <p:nvPr/>
        </p:nvSpPr>
        <p:spPr>
          <a:xfrm>
            <a:off x="1737360" y="2423160"/>
            <a:ext cx="1371600" cy="9144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</a:ln>
        </p:spPr>
      </p:sp>
      <p:sp>
        <p:nvSpPr>
          <p:cNvPr id="129" name="Shape 116"/>
          <p:cNvSpPr/>
          <p:nvPr/>
        </p:nvSpPr>
        <p:spPr>
          <a:xfrm>
            <a:off x="1737360" y="2423160"/>
            <a:ext cx="9144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30" name="Shape 117"/>
          <p:cNvSpPr/>
          <p:nvPr/>
        </p:nvSpPr>
        <p:spPr>
          <a:xfrm>
            <a:off x="2176272" y="2304288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1" name="Text 118"/>
          <p:cNvSpPr/>
          <p:nvPr/>
        </p:nvSpPr>
        <p:spPr>
          <a:xfrm>
            <a:off x="2176272" y="23042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32" name="Shape 119"/>
          <p:cNvSpPr/>
          <p:nvPr/>
        </p:nvSpPr>
        <p:spPr>
          <a:xfrm>
            <a:off x="1371600" y="1691640"/>
            <a:ext cx="731520" cy="731520"/>
          </a:xfrm>
          <a:prstGeom prst="ellipse">
            <a:avLst/>
          </a:prstGeom>
          <a:solidFill>
            <a:srgbClr val="475569">
              <a:alpha val="30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3" name="Shape 120"/>
          <p:cNvSpPr/>
          <p:nvPr/>
        </p:nvSpPr>
        <p:spPr>
          <a:xfrm>
            <a:off x="1444752" y="1764792"/>
            <a:ext cx="585216" cy="585216"/>
          </a:xfrm>
          <a:prstGeom prst="ellipse">
            <a:avLst/>
          </a:prstGeom>
          <a:solidFill>
            <a:srgbClr val="1A2340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134" name="Shape 121"/>
          <p:cNvSpPr/>
          <p:nvPr/>
        </p:nvSpPr>
        <p:spPr>
          <a:xfrm>
            <a:off x="1554480" y="1874520"/>
            <a:ext cx="365760" cy="36576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1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18488" y="1938528"/>
            <a:ext cx="237744" cy="237744"/>
          </a:xfrm>
          <a:prstGeom prst="rect">
            <a:avLst/>
          </a:prstGeom>
        </p:spPr>
      </p:pic>
      <p:sp>
        <p:nvSpPr>
          <p:cNvPr id="136" name="Text 122"/>
          <p:cNvSpPr/>
          <p:nvPr/>
        </p:nvSpPr>
        <p:spPr>
          <a:xfrm>
            <a:off x="457200" y="12801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Active?</a:t>
            </a:r>
            <a:endParaRPr lang="en-US" sz="1000" dirty="0"/>
          </a:p>
        </p:txBody>
      </p:sp>
      <p:sp>
        <p:nvSpPr>
          <p:cNvPr id="137" name="Text 123"/>
          <p:cNvSpPr/>
          <p:nvPr/>
        </p:nvSpPr>
        <p:spPr>
          <a:xfrm>
            <a:off x="457200" y="14996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/ ID match</a:t>
            </a:r>
            <a:endParaRPr lang="en-US" sz="850" dirty="0"/>
          </a:p>
        </p:txBody>
      </p:sp>
      <p:sp>
        <p:nvSpPr>
          <p:cNvPr id="138" name="Shape 124"/>
          <p:cNvSpPr/>
          <p:nvPr/>
        </p:nvSpPr>
        <p:spPr>
          <a:xfrm>
            <a:off x="1417320" y="2057400"/>
            <a:ext cx="-45720" cy="9144"/>
          </a:xfrm>
          <a:prstGeom prst="line">
            <a:avLst/>
          </a:prstGeom>
          <a:noFill/>
          <a:ln w="22225">
            <a:solidFill>
              <a:srgbClr val="F43F5E"/>
            </a:solidFill>
            <a:prstDash val="solid"/>
          </a:ln>
        </p:spPr>
      </p:sp>
      <p:sp>
        <p:nvSpPr>
          <p:cNvPr id="139" name="Shape 125"/>
          <p:cNvSpPr/>
          <p:nvPr/>
        </p:nvSpPr>
        <p:spPr>
          <a:xfrm>
            <a:off x="1417320" y="2057400"/>
            <a:ext cx="9144" cy="3703320"/>
          </a:xfrm>
          <a:prstGeom prst="line">
            <a:avLst/>
          </a:prstGeom>
          <a:noFill/>
          <a:ln w="22225">
            <a:solidFill>
              <a:srgbClr val="F43F5E"/>
            </a:solidFill>
            <a:prstDash val="solid"/>
            <a:tailEnd type="triangle"/>
          </a:ln>
        </p:spPr>
      </p:sp>
      <p:sp>
        <p:nvSpPr>
          <p:cNvPr id="140" name="Shape 126"/>
          <p:cNvSpPr/>
          <p:nvPr/>
        </p:nvSpPr>
        <p:spPr>
          <a:xfrm>
            <a:off x="822960" y="1938528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1" name="Text 127"/>
          <p:cNvSpPr/>
          <p:nvPr/>
        </p:nvSpPr>
        <p:spPr>
          <a:xfrm>
            <a:off x="822960" y="19385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42" name="Shape 128"/>
          <p:cNvSpPr/>
          <p:nvPr/>
        </p:nvSpPr>
        <p:spPr>
          <a:xfrm>
            <a:off x="1737360" y="2423160"/>
            <a:ext cx="9144" cy="45720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43" name="Shape 129"/>
          <p:cNvSpPr/>
          <p:nvPr/>
        </p:nvSpPr>
        <p:spPr>
          <a:xfrm>
            <a:off x="1737360" y="2880360"/>
            <a:ext cx="1645920" cy="914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44" name="Shape 130"/>
          <p:cNvSpPr/>
          <p:nvPr/>
        </p:nvSpPr>
        <p:spPr>
          <a:xfrm>
            <a:off x="3383280" y="2880360"/>
            <a:ext cx="9144" cy="288036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45" name="Shape 131"/>
          <p:cNvSpPr/>
          <p:nvPr/>
        </p:nvSpPr>
        <p:spPr>
          <a:xfrm>
            <a:off x="1783080" y="2468880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6" name="Text 132"/>
          <p:cNvSpPr/>
          <p:nvPr/>
        </p:nvSpPr>
        <p:spPr>
          <a:xfrm>
            <a:off x="1783080" y="2468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47" name="Shape 133"/>
          <p:cNvSpPr/>
          <p:nvPr/>
        </p:nvSpPr>
        <p:spPr>
          <a:xfrm>
            <a:off x="548640" y="6784848"/>
            <a:ext cx="11064240" cy="0"/>
          </a:xfrm>
          <a:prstGeom prst="line">
            <a:avLst/>
          </a:prstGeom>
          <a:noFill/>
          <a:ln w="635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outcomes &amp; decision rules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655064"/>
            <a:ext cx="2267712" cy="4690872"/>
          </a:xfrm>
          <a:prstGeom prst="roundRect">
            <a:avLst>
              <a:gd name="adj" fmla="val 6452"/>
            </a:avLst>
          </a:prstGeom>
          <a:solidFill>
            <a:srgbClr val="F97316">
              <a:alpha val="1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691640"/>
            <a:ext cx="2194560" cy="4617720"/>
          </a:xfrm>
          <a:prstGeom prst="roundRect">
            <a:avLst>
              <a:gd name="adj" fmla="val 5833"/>
            </a:avLst>
          </a:prstGeom>
          <a:solidFill>
            <a:srgbClr val="1A234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5623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81328" y="185623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7C2D12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81328" y="18562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32688" y="2286000"/>
            <a:ext cx="914400" cy="914400"/>
          </a:xfrm>
          <a:prstGeom prst="ellipse">
            <a:avLst/>
          </a:prstGeom>
          <a:solidFill>
            <a:srgbClr val="7C2D12"/>
          </a:solidFill>
          <a:ln w="15875">
            <a:solidFill>
              <a:srgbClr val="F9731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496312"/>
            <a:ext cx="493776" cy="4937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29768" y="3383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29768" y="3749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BOTH Active &amp; Former Employees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58368" y="4233672"/>
            <a:ext cx="14630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5488" y="44348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" y="435254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both Active AND Former tables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" y="5001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" y="49194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Auto-decision impossible — conflict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75488" y="55686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" y="54864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Manual Queue for review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569464" y="1655064"/>
            <a:ext cx="2267712" cy="4690872"/>
          </a:xfrm>
          <a:prstGeom prst="roundRect">
            <a:avLst>
              <a:gd name="adj" fmla="val 6452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606040" y="1691640"/>
            <a:ext cx="2194560" cy="4617720"/>
          </a:xfrm>
          <a:prstGeom prst="roundRect">
            <a:avLst>
              <a:gd name="adj" fmla="val 5833"/>
            </a:avLst>
          </a:prstGeom>
          <a:solidFill>
            <a:srgbClr val="1A23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70632" y="185623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794760" y="185623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78350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94760" y="18562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ONHOLD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246120" y="2286000"/>
            <a:ext cx="914400" cy="914400"/>
          </a:xfrm>
          <a:prstGeom prst="ellipse">
            <a:avLst/>
          </a:prstGeom>
          <a:solidFill>
            <a:srgbClr val="78350F"/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2496312"/>
            <a:ext cx="493776" cy="49377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2743200" y="3383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ONHOLD · Mail A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2743200" y="3749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Inactive · NOT in Former Employees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2971800" y="4233672"/>
            <a:ext cx="14630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2788920" y="44348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990088" y="435254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status = Inactive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2788920" y="5001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990088" y="49194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present in Former Employees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2788920" y="55686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2990088" y="54864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ONHOLD · Mail Template A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4882896" y="1655064"/>
            <a:ext cx="2267712" cy="4690872"/>
          </a:xfrm>
          <a:prstGeom prst="roundRect">
            <a:avLst>
              <a:gd name="adj" fmla="val 6452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919472" y="1691640"/>
            <a:ext cx="2194560" cy="4617720"/>
          </a:xfrm>
          <a:prstGeom prst="roundRect">
            <a:avLst>
              <a:gd name="adj" fmla="val 5833"/>
            </a:avLst>
          </a:prstGeom>
          <a:solidFill>
            <a:srgbClr val="1A23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084064" y="185623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6108192" y="185623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78350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108192" y="18562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ONHOLD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5559552" y="2286000"/>
            <a:ext cx="914400" cy="914400"/>
          </a:xfrm>
          <a:prstGeom prst="ellipse">
            <a:avLst/>
          </a:prstGeom>
          <a:solidFill>
            <a:srgbClr val="78350F"/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2496312"/>
            <a:ext cx="493776" cy="493776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5056632" y="3383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ONHOLD · Mail B</a:t>
            </a:r>
            <a:endParaRPr lang="en-US" sz="1400" dirty="0"/>
          </a:p>
        </p:txBody>
      </p:sp>
      <p:sp>
        <p:nvSpPr>
          <p:cNvPr id="45" name="Text 40"/>
          <p:cNvSpPr/>
          <p:nvPr/>
        </p:nvSpPr>
        <p:spPr>
          <a:xfrm>
            <a:off x="5056632" y="3749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Inactive · In FE · Date empty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5285232" y="4233672"/>
            <a:ext cx="14630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5102352" y="44348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5303520" y="435254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status = Inactive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5102352" y="5001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5303520" y="49194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Former Employees, no termination date</a:t>
            </a:r>
            <a:endParaRPr lang="en-US" sz="950" dirty="0"/>
          </a:p>
        </p:txBody>
      </p:sp>
      <p:sp>
        <p:nvSpPr>
          <p:cNvPr id="51" name="Shape 46"/>
          <p:cNvSpPr/>
          <p:nvPr/>
        </p:nvSpPr>
        <p:spPr>
          <a:xfrm>
            <a:off x="5102352" y="55686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5303520" y="54864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ONHOLD · Mail Template B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7196328" y="1655064"/>
            <a:ext cx="2267712" cy="4690872"/>
          </a:xfrm>
          <a:prstGeom prst="roundRect">
            <a:avLst>
              <a:gd name="adj" fmla="val 6452"/>
            </a:avLst>
          </a:prstGeom>
          <a:solidFill>
            <a:srgbClr val="F43F5E">
              <a:alpha val="1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7232904" y="1691640"/>
            <a:ext cx="2194560" cy="4617720"/>
          </a:xfrm>
          <a:prstGeom prst="roundRect">
            <a:avLst>
              <a:gd name="adj" fmla="val 5833"/>
            </a:avLst>
          </a:prstGeom>
          <a:solidFill>
            <a:srgbClr val="1A234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7397496" y="185623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6" name="Shape 51"/>
          <p:cNvSpPr/>
          <p:nvPr/>
        </p:nvSpPr>
        <p:spPr>
          <a:xfrm>
            <a:off x="8421624" y="185623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881337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8421624" y="18562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850" dirty="0"/>
          </a:p>
        </p:txBody>
      </p:sp>
      <p:sp>
        <p:nvSpPr>
          <p:cNvPr id="58" name="Shape 53"/>
          <p:cNvSpPr/>
          <p:nvPr/>
        </p:nvSpPr>
        <p:spPr>
          <a:xfrm>
            <a:off x="7872984" y="2286000"/>
            <a:ext cx="914400" cy="914400"/>
          </a:xfrm>
          <a:prstGeom prst="ellipse">
            <a:avLst/>
          </a:prstGeom>
          <a:solidFill>
            <a:srgbClr val="881337"/>
          </a:solidFill>
          <a:ln w="15875">
            <a:solidFill>
              <a:srgbClr val="F43F5E"/>
            </a:solidFill>
            <a:prstDash val="solid"/>
          </a:ln>
        </p:spPr>
      </p:sp>
      <p:pic>
        <p:nvPicPr>
          <p:cNvPr id="5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2496312"/>
            <a:ext cx="493776" cy="493776"/>
          </a:xfrm>
          <a:prstGeom prst="rect">
            <a:avLst/>
          </a:prstGeom>
        </p:spPr>
      </p:pic>
      <p:sp>
        <p:nvSpPr>
          <p:cNvPr id="60" name="Text 54"/>
          <p:cNvSpPr/>
          <p:nvPr/>
        </p:nvSpPr>
        <p:spPr>
          <a:xfrm>
            <a:off x="7370064" y="3383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400" dirty="0"/>
          </a:p>
        </p:txBody>
      </p:sp>
      <p:sp>
        <p:nvSpPr>
          <p:cNvPr id="61" name="Text 55"/>
          <p:cNvSpPr/>
          <p:nvPr/>
        </p:nvSpPr>
        <p:spPr>
          <a:xfrm>
            <a:off x="7370064" y="3749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FT · Matches Active Employee</a:t>
            </a:r>
            <a:endParaRPr lang="en-US" sz="950" dirty="0"/>
          </a:p>
        </p:txBody>
      </p:sp>
      <p:sp>
        <p:nvSpPr>
          <p:cNvPr id="62" name="Shape 56"/>
          <p:cNvSpPr/>
          <p:nvPr/>
        </p:nvSpPr>
        <p:spPr>
          <a:xfrm>
            <a:off x="7598664" y="4233672"/>
            <a:ext cx="14630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7415784" y="44348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7616952" y="435254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Future Transactions</a:t>
            </a:r>
            <a:endParaRPr lang="en-US" sz="950" dirty="0"/>
          </a:p>
        </p:txBody>
      </p:sp>
      <p:sp>
        <p:nvSpPr>
          <p:cNvPr id="65" name="Shape 59"/>
          <p:cNvSpPr/>
          <p:nvPr/>
        </p:nvSpPr>
        <p:spPr>
          <a:xfrm>
            <a:off x="7415784" y="5001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6" name="Text 60"/>
          <p:cNvSpPr/>
          <p:nvPr/>
        </p:nvSpPr>
        <p:spPr>
          <a:xfrm>
            <a:off x="7616952" y="49194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match Active Employee</a:t>
            </a:r>
            <a:endParaRPr lang="en-US" sz="950" dirty="0"/>
          </a:p>
        </p:txBody>
      </p:sp>
      <p:sp>
        <p:nvSpPr>
          <p:cNvPr id="67" name="Shape 61"/>
          <p:cNvSpPr/>
          <p:nvPr/>
        </p:nvSpPr>
        <p:spPr>
          <a:xfrm>
            <a:off x="7415784" y="55686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8" name="Text 62"/>
          <p:cNvSpPr/>
          <p:nvPr/>
        </p:nvSpPr>
        <p:spPr>
          <a:xfrm>
            <a:off x="7616952" y="54864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Rejected (active conflict)</a:t>
            </a:r>
            <a:endParaRPr lang="en-US" sz="950" dirty="0"/>
          </a:p>
        </p:txBody>
      </p:sp>
      <p:sp>
        <p:nvSpPr>
          <p:cNvPr id="69" name="Shape 63"/>
          <p:cNvSpPr/>
          <p:nvPr/>
        </p:nvSpPr>
        <p:spPr>
          <a:xfrm>
            <a:off x="9509760" y="1655064"/>
            <a:ext cx="2267712" cy="4690872"/>
          </a:xfrm>
          <a:prstGeom prst="roundRect">
            <a:avLst>
              <a:gd name="adj" fmla="val 6452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9546336" y="1691640"/>
            <a:ext cx="2194560" cy="4617720"/>
          </a:xfrm>
          <a:prstGeom prst="roundRect">
            <a:avLst>
              <a:gd name="adj" fmla="val 5833"/>
            </a:avLst>
          </a:prstGeom>
          <a:solidFill>
            <a:srgbClr val="1A23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1" name="Text 65"/>
          <p:cNvSpPr/>
          <p:nvPr/>
        </p:nvSpPr>
        <p:spPr>
          <a:xfrm>
            <a:off x="9710928" y="185623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72" name="Shape 66"/>
          <p:cNvSpPr/>
          <p:nvPr/>
        </p:nvSpPr>
        <p:spPr>
          <a:xfrm>
            <a:off x="10735056" y="185623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73" name="Text 67"/>
          <p:cNvSpPr/>
          <p:nvPr/>
        </p:nvSpPr>
        <p:spPr>
          <a:xfrm>
            <a:off x="10735056" y="18562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850" dirty="0"/>
          </a:p>
        </p:txBody>
      </p:sp>
      <p:sp>
        <p:nvSpPr>
          <p:cNvPr id="74" name="Shape 68"/>
          <p:cNvSpPr/>
          <p:nvPr/>
        </p:nvSpPr>
        <p:spPr>
          <a:xfrm>
            <a:off x="10186416" y="2286000"/>
            <a:ext cx="914400" cy="914400"/>
          </a:xfrm>
          <a:prstGeom prst="ellipse">
            <a:avLst/>
          </a:prstGeom>
          <a:solidFill>
            <a:srgbClr val="064E3B"/>
          </a:solidFill>
          <a:ln w="15875">
            <a:solidFill>
              <a:srgbClr val="10B981"/>
            </a:solidFill>
            <a:prstDash val="solid"/>
          </a:ln>
        </p:spPr>
      </p:sp>
      <p:pic>
        <p:nvPicPr>
          <p:cNvPr id="7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6728" y="2496312"/>
            <a:ext cx="493776" cy="493776"/>
          </a:xfrm>
          <a:prstGeom prst="rect">
            <a:avLst/>
          </a:prstGeom>
        </p:spPr>
      </p:pic>
      <p:sp>
        <p:nvSpPr>
          <p:cNvPr id="76" name="Text 69"/>
          <p:cNvSpPr/>
          <p:nvPr/>
        </p:nvSpPr>
        <p:spPr>
          <a:xfrm>
            <a:off x="9683496" y="3383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400" dirty="0"/>
          </a:p>
        </p:txBody>
      </p:sp>
      <p:sp>
        <p:nvSpPr>
          <p:cNvPr id="77" name="Text 70"/>
          <p:cNvSpPr/>
          <p:nvPr/>
        </p:nvSpPr>
        <p:spPr>
          <a:xfrm>
            <a:off x="9683496" y="3749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Employee · Has termination date</a:t>
            </a:r>
            <a:endParaRPr lang="en-US" sz="950" dirty="0"/>
          </a:p>
        </p:txBody>
      </p:sp>
      <p:sp>
        <p:nvSpPr>
          <p:cNvPr id="78" name="Shape 71"/>
          <p:cNvSpPr/>
          <p:nvPr/>
        </p:nvSpPr>
        <p:spPr>
          <a:xfrm>
            <a:off x="9912096" y="4233672"/>
            <a:ext cx="14630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79" name="Shape 72"/>
          <p:cNvSpPr/>
          <p:nvPr/>
        </p:nvSpPr>
        <p:spPr>
          <a:xfrm>
            <a:off x="9729216" y="44348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0" name="Text 73"/>
          <p:cNvSpPr/>
          <p:nvPr/>
        </p:nvSpPr>
        <p:spPr>
          <a:xfrm>
            <a:off x="9930384" y="435254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Former Employees table</a:t>
            </a:r>
            <a:endParaRPr lang="en-US" sz="950" dirty="0"/>
          </a:p>
        </p:txBody>
      </p:sp>
      <p:sp>
        <p:nvSpPr>
          <p:cNvPr id="81" name="Shape 74"/>
          <p:cNvSpPr/>
          <p:nvPr/>
        </p:nvSpPr>
        <p:spPr>
          <a:xfrm>
            <a:off x="9729216" y="5001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2" name="Text 75"/>
          <p:cNvSpPr/>
          <p:nvPr/>
        </p:nvSpPr>
        <p:spPr>
          <a:xfrm>
            <a:off x="9930384" y="49194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/ last working date present</a:t>
            </a:r>
            <a:endParaRPr lang="en-US" sz="950" dirty="0"/>
          </a:p>
        </p:txBody>
      </p:sp>
      <p:sp>
        <p:nvSpPr>
          <p:cNvPr id="83" name="Shape 76"/>
          <p:cNvSpPr/>
          <p:nvPr/>
        </p:nvSpPr>
        <p:spPr>
          <a:xfrm>
            <a:off x="9729216" y="55686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4" name="Text 77"/>
          <p:cNvSpPr/>
          <p:nvPr/>
        </p:nvSpPr>
        <p:spPr>
          <a:xfrm>
            <a:off x="9930384" y="54864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Active (from P or H)</a:t>
            </a:r>
            <a:endParaRPr lang="en-US" sz="950" dirty="0"/>
          </a:p>
        </p:txBody>
      </p:sp>
      <p:sp>
        <p:nvSpPr>
          <p:cNvPr id="85" name="Text 78"/>
          <p:cNvSpPr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Template A — sent for Rule 2  ·  Mail Template B — sent for Rule 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2026-05-08T10:42:14Z</dcterms:created>
  <dcterms:modified xsi:type="dcterms:W3CDTF">2026-05-08T10:42:14Z</dcterms:modified>
</cp:coreProperties>
</file>